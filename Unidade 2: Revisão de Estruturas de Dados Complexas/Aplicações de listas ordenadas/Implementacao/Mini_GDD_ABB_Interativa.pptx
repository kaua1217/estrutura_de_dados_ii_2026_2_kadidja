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500" b="1">
                <a:solidFill>
                  <a:srgbClr val="182D4A"/>
                </a:solidFill>
                <a:latin typeface="Aptos"/>
              </a:rPr>
              <a:t>Mini GDD — Árvore Binária de Busca (ABB)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50" b="0">
                <a:solidFill>
                  <a:srgbClr val="5B6270"/>
                </a:solidFill>
                <a:latin typeface="Aptos"/>
              </a:rPr>
              <a:t>Aplicação interativa para compreender inserção, comparação e busca em uma ABB.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143000" cy="50292"/>
          </a:xfrm>
          <a:prstGeom prst="rect">
            <a:avLst/>
          </a:prstGeom>
          <a:solidFill>
            <a:srgbClr val="128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0352" y="1353312"/>
            <a:ext cx="548640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19" y="1481328"/>
            <a:ext cx="51206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82D4A"/>
                </a:solidFill>
                <a:latin typeface="Aptos"/>
              </a:rPr>
              <a:t>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1801368"/>
            <a:ext cx="512064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50" b="0">
                <a:solidFill>
                  <a:srgbClr val="5B6270"/>
                </a:solidFill>
                <a:latin typeface="Aptos"/>
              </a:rPr>
              <a:t>O que o jogador precisa localizar ou organizar?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212848"/>
            <a:ext cx="5120640" cy="1060704"/>
          </a:xfrm>
          <a:prstGeom prst="rect">
            <a:avLst/>
          </a:prstGeom>
          <a:noFill/>
        </p:spPr>
        <p:txBody>
          <a:bodyPr wrap="square" lIns="18288" tIns="18288" rIns="27432" bIns="18288">
            <a:spAutoFit/>
          </a:bodyPr>
          <a:lstStyle/>
          <a:p>
            <a:pPr>
              <a:spcAft>
                <a:spcPts val="400"/>
              </a:spcAft>
              <a:defRPr sz="1030">
                <a:solidFill>
                  <a:srgbClr val="232A37"/>
                </a:solidFill>
                <a:latin typeface="Aptos"/>
              </a:defRPr>
            </a:pPr>
            <a:r>
              <a:t>Localizar valores numéricos em uma Árvore Binária de Busca.</a:t>
            </a:r>
          </a:p>
          <a:p>
            <a:pPr>
              <a:spcAft>
                <a:spcPts val="400"/>
              </a:spcAft>
              <a:defRPr sz="1030">
                <a:solidFill>
                  <a:srgbClr val="232A37"/>
                </a:solidFill>
                <a:latin typeface="Aptos"/>
              </a:defRPr>
            </a:pPr>
            <a:r>
              <a:t>Compreender como a estrutura organiza os elementos e como as comparações definem o caminho.</a:t>
            </a:r>
          </a:p>
          <a:p>
            <a:pPr>
              <a:spcAft>
                <a:spcPts val="400"/>
              </a:spcAft>
              <a:defRPr sz="1030">
                <a:solidFill>
                  <a:srgbClr val="232A37"/>
                </a:solidFill>
                <a:latin typeface="Aptos"/>
              </a:defRPr>
            </a:pPr>
            <a:r>
              <a:t>Inserir números em uma ordem definida e acompanhar visualmente as decisões.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353312"/>
            <a:ext cx="5458968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481328"/>
            <a:ext cx="5093207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82D4A"/>
                </a:solidFill>
                <a:latin typeface="Aptos"/>
              </a:rPr>
              <a:t>Árvore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01368"/>
            <a:ext cx="5093207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50" b="0">
                <a:solidFill>
                  <a:srgbClr val="5B6270"/>
                </a:solidFill>
                <a:latin typeface="Aptos"/>
              </a:rPr>
              <a:t>Quais valores formam a ABB inicial?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12848"/>
            <a:ext cx="5093207" cy="1060704"/>
          </a:xfrm>
          <a:prstGeom prst="rect">
            <a:avLst/>
          </a:prstGeom>
          <a:noFill/>
        </p:spPr>
        <p:txBody>
          <a:bodyPr wrap="square" lIns="18288" tIns="18288" rIns="27432" bIns="18288">
            <a:spAutoFit/>
          </a:bodyPr>
          <a:lstStyle/>
          <a:p>
            <a:pPr>
              <a:spcAft>
                <a:spcPts val="400"/>
              </a:spcAft>
              <a:defRPr sz="1030">
                <a:solidFill>
                  <a:srgbClr val="232A37"/>
                </a:solidFill>
                <a:latin typeface="Aptos"/>
              </a:defRPr>
            </a:pPr>
            <a:r>
              <a:t>Valores definidos pelo usuário ou pré-definidos: 0, 30, 70, 20, 40, 60, 80.</a:t>
            </a:r>
          </a:p>
          <a:p>
            <a:pPr>
              <a:spcAft>
                <a:spcPts val="400"/>
              </a:spcAft>
              <a:defRPr sz="1030">
                <a:solidFill>
                  <a:srgbClr val="232A37"/>
                </a:solidFill>
                <a:latin typeface="Aptos"/>
              </a:defRPr>
            </a:pPr>
            <a:r>
              <a:t>Menores que o nó atual → subárvore esquerda.</a:t>
            </a:r>
          </a:p>
          <a:p>
            <a:pPr>
              <a:spcAft>
                <a:spcPts val="400"/>
              </a:spcAft>
              <a:defRPr sz="1030">
                <a:solidFill>
                  <a:srgbClr val="232A37"/>
                </a:solidFill>
                <a:latin typeface="Aptos"/>
              </a:defRPr>
            </a:pPr>
            <a:r>
              <a:t>Maiores ou iguais → subárvore direita.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3584448"/>
            <a:ext cx="548640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19" y="3712463"/>
            <a:ext cx="51206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82D4A"/>
                </a:solidFill>
                <a:latin typeface="Aptos"/>
              </a:rPr>
              <a:t>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" y="4032504"/>
            <a:ext cx="512064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50" b="0">
                <a:solidFill>
                  <a:srgbClr val="5B6270"/>
                </a:solidFill>
                <a:latin typeface="Aptos"/>
              </a:rPr>
              <a:t>Como o jogo indica uma decisão correta ou incorreta?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19" y="4443983"/>
            <a:ext cx="5120640" cy="1060704"/>
          </a:xfrm>
          <a:prstGeom prst="rect">
            <a:avLst/>
          </a:prstGeom>
          <a:noFill/>
        </p:spPr>
        <p:txBody>
          <a:bodyPr wrap="square" lIns="18288" tIns="18288" rIns="27432" bIns="18288">
            <a:spAutoFit/>
          </a:bodyPr>
          <a:lstStyle/>
          <a:p>
            <a:pPr>
              <a:spcAft>
                <a:spcPts val="400"/>
              </a:spcAft>
              <a:defRPr sz="1030">
                <a:solidFill>
                  <a:srgbClr val="232A37"/>
                </a:solidFill>
                <a:latin typeface="Aptos"/>
              </a:defRPr>
            </a:pPr>
            <a:r>
              <a:t>Feedback visual e textual durante as operações.</a:t>
            </a:r>
          </a:p>
          <a:p>
            <a:pPr>
              <a:spcAft>
                <a:spcPts val="400"/>
              </a:spcAft>
              <a:defRPr sz="1030">
                <a:solidFill>
                  <a:srgbClr val="232A37"/>
                </a:solidFill>
                <a:latin typeface="Aptos"/>
              </a:defRPr>
            </a:pPr>
            <a:r>
              <a:t>Destaque dos nós e apresentação das comparações realizadas.</a:t>
            </a:r>
          </a:p>
          <a:p>
            <a:pPr>
              <a:spcAft>
                <a:spcPts val="400"/>
              </a:spcAft>
              <a:defRPr sz="1030">
                <a:solidFill>
                  <a:srgbClr val="232A37"/>
                </a:solidFill>
                <a:latin typeface="Aptos"/>
              </a:defRPr>
            </a:pPr>
            <a:r>
              <a:t>O usuário acompanha as decisões do algoritmo, não apenas o resultado final.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3584448"/>
            <a:ext cx="5458968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712463"/>
            <a:ext cx="5093207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700" b="1">
                <a:solidFill>
                  <a:srgbClr val="182D4A"/>
                </a:solidFill>
                <a:latin typeface="Aptos"/>
              </a:rPr>
              <a:t>Vitória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032504"/>
            <a:ext cx="5093207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50" b="0">
                <a:solidFill>
                  <a:srgbClr val="5B6270"/>
                </a:solidFill>
                <a:latin typeface="Aptos"/>
              </a:rPr>
              <a:t>Qual condição demonstra que a busca terminou?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443983"/>
            <a:ext cx="5093207" cy="1060704"/>
          </a:xfrm>
          <a:prstGeom prst="rect">
            <a:avLst/>
          </a:prstGeom>
          <a:noFill/>
        </p:spPr>
        <p:txBody>
          <a:bodyPr wrap="square" lIns="18288" tIns="18288" rIns="27432" bIns="18288">
            <a:spAutoFit/>
          </a:bodyPr>
          <a:lstStyle/>
          <a:p>
            <a:pPr>
              <a:spcAft>
                <a:spcPts val="400"/>
              </a:spcAft>
              <a:defRPr sz="1030">
                <a:solidFill>
                  <a:srgbClr val="232A37"/>
                </a:solidFill>
                <a:latin typeface="Aptos"/>
              </a:defRPr>
            </a:pPr>
            <a:r>
              <a:t>Sucesso: o valor procurado é igual ao nó atual; o sistema marca como encontrado e informa as comparações.</a:t>
            </a:r>
          </a:p>
          <a:p>
            <a:pPr>
              <a:spcAft>
                <a:spcPts val="400"/>
              </a:spcAft>
              <a:defRPr sz="1030">
                <a:solidFill>
                  <a:srgbClr val="232A37"/>
                </a:solidFill>
                <a:latin typeface="Aptos"/>
              </a:defRPr>
            </a:pPr>
            <a:r>
              <a:t>Sem sucesso: o percurso chega a None; a aplicação informa que o valor não foi encontrado e mostra o caminho.</a:t>
            </a:r>
          </a:p>
          <a:p>
            <a:pPr>
              <a:spcAft>
                <a:spcPts val="400"/>
              </a:spcAft>
              <a:defRPr sz="1030">
                <a:solidFill>
                  <a:srgbClr val="232A37"/>
                </a:solidFill>
                <a:latin typeface="Aptos"/>
              </a:defRPr>
            </a:pPr>
            <a:r>
              <a:t>Objetivo: reconhecer quando o elemento foi localizado ou não existe naquele percurso.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14476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3538B"/>
                </a:solidFill>
                <a:latin typeface="Aptos"/>
              </a:rPr>
              <a:t>O modelo deve ensinar a regra da ABB, não apenas apresentar o resultado da busca.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241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EDILSON RAIMUNDO ZACARIAS FILHO</cp:lastModifiedBy>
  <cp:revision>2</cp:revision>
  <dcterms:created xsi:type="dcterms:W3CDTF">2013-01-27T09:14:16Z</dcterms:created>
  <dcterms:modified xsi:type="dcterms:W3CDTF">2026-09-25T16:25:28Z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2026-09-25T16:25:28Z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38ae2f02-5710-4e12-80bb-83600c3fdf1e</vt:lpwstr>
  </property>
  <property fmtid="{D5CDD505-2E9C-101B-9397-08002B2CF9AE}" pid="7" name="MSIP_Label_defa4170-0d19-0005-0004-bc88714345d2_ActionId">
    <vt:lpwstr>2f4b02d2-838a-453b-a2b3-14fdd12b1d32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